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7772400"/>
  <p:notesSz cx="77724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lIns="38100" tIns="76200" rIns="762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AI-generated and supervisor feedback differ on medical students' clinical clerkship logs?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13816"/>
            <a:ext cx="2926080" cy="365760"/>
          </a:xfrm>
          <a:prstGeom prst="roundRect">
            <a:avLst>
              <a:gd name="adj" fmla="val 15000"/>
            </a:avLst>
          </a:prstGeom>
          <a:solidFill>
            <a:srgbClr val="D8E6F3"/>
          </a:solidFill>
          <a:ln w="12700">
            <a:solidFill>
              <a:srgbClr val="2E5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13816"/>
            <a:ext cx="2926080" cy="365760"/>
          </a:xfrm>
          <a:prstGeom prst="rect">
            <a:avLst/>
          </a:prstGeom>
          <a:noFill/>
          <a:ln/>
        </p:spPr>
        <p:txBody>
          <a:bodyPr wrap="square" lIns="38100" tIns="76200" rIns="762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feedback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833872" y="813816"/>
            <a:ext cx="2926080" cy="365760"/>
          </a:xfrm>
          <a:prstGeom prst="roundRect">
            <a:avLst>
              <a:gd name="adj" fmla="val 15000"/>
            </a:avLst>
          </a:prstGeom>
          <a:solidFill>
            <a:srgbClr val="F5E0CB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33872" y="813816"/>
            <a:ext cx="2926080" cy="365760"/>
          </a:xfrm>
          <a:prstGeom prst="rect">
            <a:avLst/>
          </a:prstGeom>
          <a:noFill/>
          <a:ln/>
        </p:spPr>
        <p:txBody>
          <a:bodyPr wrap="square" lIns="38100" tIns="76200" rIns="762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3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feedback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3552" y="1307592"/>
            <a:ext cx="2487168" cy="1024128"/>
          </a:xfrm>
          <a:prstGeom prst="roundRect">
            <a:avLst>
              <a:gd name="adj" fmla="val 5357"/>
            </a:avLst>
          </a:prstGeom>
          <a:solidFill>
            <a:srgbClr val="F7F7F7"/>
          </a:solidFill>
          <a:ln w="9525">
            <a:solidFill>
              <a:srgbClr val="4A4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73552" y="1307592"/>
            <a:ext cx="2487168" cy="1024128"/>
          </a:xfrm>
          <a:prstGeom prst="rect">
            <a:avLst/>
          </a:prstGeom>
          <a:noFill/>
          <a:ln/>
        </p:spPr>
        <p:txBody>
          <a:bodyPr wrap="square" lIns="38100" tIns="76200" rIns="762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Adherence to the feedback criteria and structure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307592"/>
            <a:ext cx="2926080" cy="484632"/>
          </a:xfrm>
          <a:prstGeom prst="roundRect">
            <a:avLst>
              <a:gd name="adj" fmla="val 11321"/>
            </a:avLst>
          </a:prstGeom>
          <a:solidFill>
            <a:srgbClr val="D8E6F3"/>
          </a:solidFill>
          <a:ln w="9525">
            <a:solidFill>
              <a:srgbClr val="2E5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307592"/>
            <a:ext cx="2926080" cy="484632"/>
          </a:xfrm>
          <a:prstGeom prst="rect">
            <a:avLst/>
          </a:prstGeom>
          <a:noFill/>
          <a:ln/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Well-structured feedback that adheres to principles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847088"/>
            <a:ext cx="2926080" cy="484632"/>
          </a:xfrm>
          <a:prstGeom prst="roundRect">
            <a:avLst>
              <a:gd name="adj" fmla="val 11321"/>
            </a:avLst>
          </a:prstGeom>
          <a:solidFill>
            <a:srgbClr val="D8E6F3"/>
          </a:solidFill>
          <a:ln w="9525">
            <a:solidFill>
              <a:srgbClr val="2E5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847088"/>
            <a:ext cx="2926080" cy="484632"/>
          </a:xfrm>
          <a:prstGeom prst="rect">
            <a:avLst/>
          </a:prstGeom>
          <a:noFill/>
          <a:ln/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Mismatch with student preferences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33872" y="1307592"/>
            <a:ext cx="2926080" cy="484632"/>
          </a:xfrm>
          <a:prstGeom prst="roundRect">
            <a:avLst>
              <a:gd name="adj" fmla="val 11321"/>
            </a:avLst>
          </a:prstGeom>
          <a:solidFill>
            <a:srgbClr val="F5E0CB"/>
          </a:solidFill>
          <a:ln w="9525">
            <a:solidFill>
              <a:srgbClr val="8B5A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33872" y="1307592"/>
            <a:ext cx="2926080" cy="484632"/>
          </a:xfrm>
          <a:prstGeom prst="rect">
            <a:avLst/>
          </a:prstGeom>
          <a:noFill/>
          <a:ln/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3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Entries not complying with feedback principles and standards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73552" y="2441448"/>
            <a:ext cx="2487168" cy="2103120"/>
          </a:xfrm>
          <a:prstGeom prst="roundRect">
            <a:avLst>
              <a:gd name="adj" fmla="val 2609"/>
            </a:avLst>
          </a:prstGeom>
          <a:solidFill>
            <a:srgbClr val="F7F7F7"/>
          </a:solidFill>
          <a:ln w="9525">
            <a:solidFill>
              <a:srgbClr val="4A4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73552" y="2441448"/>
            <a:ext cx="2487168" cy="2103120"/>
          </a:xfrm>
          <a:prstGeom prst="rect">
            <a:avLst/>
          </a:prstGeom>
          <a:noFill/>
          <a:ln/>
        </p:spPr>
        <p:txBody>
          <a:bodyPr wrap="square" lIns="38100" tIns="76200" rIns="762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Continuity and consistency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441448"/>
            <a:ext cx="2926080" cy="484632"/>
          </a:xfrm>
          <a:prstGeom prst="roundRect">
            <a:avLst>
              <a:gd name="adj" fmla="val 11321"/>
            </a:avLst>
          </a:prstGeom>
          <a:solidFill>
            <a:srgbClr val="D8E6F3"/>
          </a:solidFill>
          <a:ln w="9525">
            <a:solidFill>
              <a:srgbClr val="2E5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441448"/>
            <a:ext cx="2926080" cy="484632"/>
          </a:xfrm>
          <a:prstGeom prst="rect">
            <a:avLst/>
          </a:prstGeom>
          <a:noFill/>
          <a:ln/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based on a comprehensive review of the recorded content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980944"/>
            <a:ext cx="2926080" cy="484632"/>
          </a:xfrm>
          <a:prstGeom prst="roundRect">
            <a:avLst>
              <a:gd name="adj" fmla="val 11321"/>
            </a:avLst>
          </a:prstGeom>
          <a:solidFill>
            <a:srgbClr val="D8E6F3"/>
          </a:solidFill>
          <a:ln w="9525">
            <a:solidFill>
              <a:srgbClr val="2E5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980944"/>
            <a:ext cx="2926080" cy="484632"/>
          </a:xfrm>
          <a:prstGeom prst="rect">
            <a:avLst/>
          </a:prstGeom>
          <a:noFill/>
          <a:ln/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for verbalizing experiences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520440"/>
            <a:ext cx="2926080" cy="484632"/>
          </a:xfrm>
          <a:prstGeom prst="roundRect">
            <a:avLst>
              <a:gd name="adj" fmla="val 11321"/>
            </a:avLst>
          </a:prstGeom>
          <a:solidFill>
            <a:srgbClr val="D8E6F3"/>
          </a:solidFill>
          <a:ln w="9525">
            <a:solidFill>
              <a:srgbClr val="2E5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520440"/>
            <a:ext cx="2926080" cy="484632"/>
          </a:xfrm>
          <a:prstGeom prst="rect">
            <a:avLst/>
          </a:prstGeom>
          <a:noFill/>
          <a:ln/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due to lack of understanding of the practicum context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059936"/>
            <a:ext cx="2926080" cy="484632"/>
          </a:xfrm>
          <a:prstGeom prst="roundRect">
            <a:avLst>
              <a:gd name="adj" fmla="val 11321"/>
            </a:avLst>
          </a:prstGeom>
          <a:solidFill>
            <a:srgbClr val="D8E6F3"/>
          </a:solidFill>
          <a:ln w="9525">
            <a:solidFill>
              <a:srgbClr val="2E5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059936"/>
            <a:ext cx="2926080" cy="484632"/>
          </a:xfrm>
          <a:prstGeom prst="rect">
            <a:avLst/>
          </a:prstGeom>
          <a:noFill/>
          <a:ln/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Variability in feedback quality depending on the content recorded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833872" y="2441448"/>
            <a:ext cx="2926080" cy="484632"/>
          </a:xfrm>
          <a:prstGeom prst="roundRect">
            <a:avLst>
              <a:gd name="adj" fmla="val 11321"/>
            </a:avLst>
          </a:prstGeom>
          <a:solidFill>
            <a:srgbClr val="F5E0CB"/>
          </a:solidFill>
          <a:ln w="9525">
            <a:solidFill>
              <a:srgbClr val="8B5A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33872" y="2441448"/>
            <a:ext cx="2926080" cy="484632"/>
          </a:xfrm>
          <a:prstGeom prst="rect">
            <a:avLst/>
          </a:prstGeom>
          <a:noFill/>
          <a:ln/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3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that takes into account the practicum context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33872" y="2980944"/>
            <a:ext cx="2926080" cy="484632"/>
          </a:xfrm>
          <a:prstGeom prst="roundRect">
            <a:avLst>
              <a:gd name="adj" fmla="val 11321"/>
            </a:avLst>
          </a:prstGeom>
          <a:solidFill>
            <a:srgbClr val="F5E0CB"/>
          </a:solidFill>
          <a:ln w="9525">
            <a:solidFill>
              <a:srgbClr val="8B5A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33872" y="2980944"/>
            <a:ext cx="2926080" cy="484632"/>
          </a:xfrm>
          <a:prstGeom prst="rect">
            <a:avLst/>
          </a:prstGeom>
          <a:noFill/>
          <a:ln/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3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that does not reflect the content of the report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833872" y="3520440"/>
            <a:ext cx="2926080" cy="484632"/>
          </a:xfrm>
          <a:prstGeom prst="roundRect">
            <a:avLst>
              <a:gd name="adj" fmla="val 11321"/>
            </a:avLst>
          </a:prstGeom>
          <a:solidFill>
            <a:srgbClr val="F5E0CB"/>
          </a:solidFill>
          <a:ln w="9525">
            <a:solidFill>
              <a:srgbClr val="8B5A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33872" y="3520440"/>
            <a:ext cx="2926080" cy="484632"/>
          </a:xfrm>
          <a:prstGeom prst="rect">
            <a:avLst/>
          </a:prstGeom>
          <a:noFill/>
          <a:ln/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3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of feedback within a limited time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73552" y="4654296"/>
            <a:ext cx="2487168" cy="1024128"/>
          </a:xfrm>
          <a:prstGeom prst="roundRect">
            <a:avLst>
              <a:gd name="adj" fmla="val 5357"/>
            </a:avLst>
          </a:prstGeom>
          <a:solidFill>
            <a:srgbClr val="F7F7F7"/>
          </a:solidFill>
          <a:ln w="9525">
            <a:solidFill>
              <a:srgbClr val="4A4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73552" y="4654296"/>
            <a:ext cx="2487168" cy="1024128"/>
          </a:xfrm>
          <a:prstGeom prst="rect">
            <a:avLst/>
          </a:prstGeom>
          <a:noFill/>
          <a:ln/>
        </p:spPr>
        <p:txBody>
          <a:bodyPr wrap="square" lIns="38100" tIns="76200" rIns="762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Perspective as a clinician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4654296"/>
            <a:ext cx="2926080" cy="484632"/>
          </a:xfrm>
          <a:prstGeom prst="roundRect">
            <a:avLst>
              <a:gd name="adj" fmla="val 11321"/>
            </a:avLst>
          </a:prstGeom>
          <a:solidFill>
            <a:srgbClr val="D8E6F3"/>
          </a:solidFill>
          <a:ln w="9525">
            <a:solidFill>
              <a:srgbClr val="2E5A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654296"/>
            <a:ext cx="2926080" cy="484632"/>
          </a:xfrm>
          <a:prstGeom prst="rect">
            <a:avLst/>
          </a:prstGeom>
          <a:noFill/>
          <a:ln/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of expert perspective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833872" y="4654296"/>
            <a:ext cx="2926080" cy="484632"/>
          </a:xfrm>
          <a:prstGeom prst="roundRect">
            <a:avLst>
              <a:gd name="adj" fmla="val 11321"/>
            </a:avLst>
          </a:prstGeom>
          <a:solidFill>
            <a:srgbClr val="F5E0CB"/>
          </a:solidFill>
          <a:ln w="9525">
            <a:solidFill>
              <a:srgbClr val="8B5A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33872" y="4654296"/>
            <a:ext cx="2926080" cy="484632"/>
          </a:xfrm>
          <a:prstGeom prst="rect">
            <a:avLst/>
          </a:prstGeom>
          <a:noFill/>
          <a:ln/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3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perspective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833872" y="5193792"/>
            <a:ext cx="2926080" cy="484632"/>
          </a:xfrm>
          <a:prstGeom prst="roundRect">
            <a:avLst>
              <a:gd name="adj" fmla="val 11321"/>
            </a:avLst>
          </a:prstGeom>
          <a:solidFill>
            <a:srgbClr val="F5E0CB"/>
          </a:solidFill>
          <a:ln w="9525">
            <a:solidFill>
              <a:srgbClr val="8B5A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33872" y="5193792"/>
            <a:ext cx="2926080" cy="484632"/>
          </a:xfrm>
          <a:prstGeom prst="rect">
            <a:avLst/>
          </a:prstGeom>
          <a:noFill/>
          <a:ln/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3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of interest as an educator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73552" y="5788152"/>
            <a:ext cx="2487168" cy="1024128"/>
          </a:xfrm>
          <a:prstGeom prst="roundRect">
            <a:avLst>
              <a:gd name="adj" fmla="val 5357"/>
            </a:avLst>
          </a:prstGeom>
          <a:solidFill>
            <a:srgbClr val="F7F7F7"/>
          </a:solidFill>
          <a:ln w="9525">
            <a:solidFill>
              <a:srgbClr val="4A4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73552" y="5788152"/>
            <a:ext cx="2487168" cy="1024128"/>
          </a:xfrm>
          <a:prstGeom prst="rect">
            <a:avLst/>
          </a:prstGeom>
          <a:noFill/>
          <a:ln/>
        </p:spPr>
        <p:txBody>
          <a:bodyPr wrap="square" lIns="38100" tIns="76200" rIns="762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of the Japanese language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4320" y="5788152"/>
            <a:ext cx="2926080" cy="484632"/>
          </a:xfrm>
          <a:prstGeom prst="roundRect">
            <a:avLst>
              <a:gd name="adj" fmla="val 11321"/>
            </a:avLst>
          </a:prstGeom>
          <a:solidFill>
            <a:srgbClr val="D8E6F3"/>
          </a:solidFill>
          <a:ln w="9525">
            <a:solidFill>
              <a:srgbClr val="2E5A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5788152"/>
            <a:ext cx="2926080" cy="484632"/>
          </a:xfrm>
          <a:prstGeom prst="rect">
            <a:avLst/>
          </a:prstGeom>
          <a:noFill/>
          <a:ln/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Insufficient output quality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833872" y="5788152"/>
            <a:ext cx="2926080" cy="484632"/>
          </a:xfrm>
          <a:prstGeom prst="roundRect">
            <a:avLst>
              <a:gd name="adj" fmla="val 11321"/>
            </a:avLst>
          </a:prstGeom>
          <a:solidFill>
            <a:srgbClr val="F5E0CB"/>
          </a:solidFill>
          <a:ln w="9525">
            <a:solidFill>
              <a:srgbClr val="8B5A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33872" y="5788152"/>
            <a:ext cx="2926080" cy="484632"/>
          </a:xfrm>
          <a:prstGeom prst="rect">
            <a:avLst/>
          </a:prstGeom>
          <a:noFill/>
          <a:ln/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3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expressions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833872" y="6327648"/>
            <a:ext cx="2926080" cy="484632"/>
          </a:xfrm>
          <a:prstGeom prst="roundRect">
            <a:avLst>
              <a:gd name="adj" fmla="val 11321"/>
            </a:avLst>
          </a:prstGeom>
          <a:solidFill>
            <a:srgbClr val="F5E0CB"/>
          </a:solidFill>
          <a:ln w="9525">
            <a:solidFill>
              <a:srgbClr val="8B5A2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33872" y="6327648"/>
            <a:ext cx="2926080" cy="484632"/>
          </a:xfrm>
          <a:prstGeom prst="rect">
            <a:avLst/>
          </a:prstGeom>
          <a:noFill/>
          <a:ln/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3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Descriptions that evoke the feeling of being reviewed by a human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73552" y="6922008"/>
            <a:ext cx="2487168" cy="484632"/>
          </a:xfrm>
          <a:prstGeom prst="roundRect">
            <a:avLst>
              <a:gd name="adj" fmla="val 11321"/>
            </a:avLst>
          </a:prstGeom>
          <a:solidFill>
            <a:srgbClr val="F7F7F7"/>
          </a:solidFill>
          <a:ln w="9525">
            <a:solidFill>
              <a:srgbClr val="4A4A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73552" y="6922008"/>
            <a:ext cx="2487168" cy="484632"/>
          </a:xfrm>
          <a:prstGeom prst="rect">
            <a:avLst/>
          </a:prstGeom>
          <a:noFill/>
          <a:ln/>
        </p:spPr>
        <p:txBody>
          <a:bodyPr wrap="square" lIns="38100" tIns="76200" rIns="762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length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74320" y="6922008"/>
            <a:ext cx="2926080" cy="484632"/>
          </a:xfrm>
          <a:prstGeom prst="roundRect">
            <a:avLst>
              <a:gd name="adj" fmla="val 11321"/>
            </a:avLst>
          </a:prstGeom>
          <a:solidFill>
            <a:srgbClr val="D8E6F3"/>
          </a:solidFill>
          <a:ln w="9525">
            <a:solidFill>
              <a:srgbClr val="2E5A8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6922008"/>
            <a:ext cx="2926080" cy="484632"/>
          </a:xfrm>
          <a:prstGeom prst="rect">
            <a:avLst/>
          </a:prstGeom>
          <a:noFill/>
          <a:ln/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Overly verbose expressions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833872" y="6922008"/>
            <a:ext cx="2926080" cy="484632"/>
          </a:xfrm>
          <a:prstGeom prst="roundRect">
            <a:avLst>
              <a:gd name="adj" fmla="val 11321"/>
            </a:avLst>
          </a:prstGeom>
          <a:solidFill>
            <a:srgbClr val="F5E0CB"/>
          </a:solidFill>
          <a:ln w="9525">
            <a:solidFill>
              <a:srgbClr val="8B5A2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33872" y="6922008"/>
            <a:ext cx="2926080" cy="484632"/>
          </a:xfrm>
          <a:prstGeom prst="rect">
            <a:avLst/>
          </a:prstGeom>
          <a:noFill/>
          <a:ln/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3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Insufficient amount of description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Thematic map of AI vs supervisor feedback differences</dc:title>
  <dc:subject>PptxGenJS Presentation</dc:subject>
  <dc:creator>PptxGenJS</dc:creator>
  <cp:lastModifiedBy>PptxGenJS</cp:lastModifiedBy>
  <cp:revision>1</cp:revision>
  <dcterms:created xsi:type="dcterms:W3CDTF">2026-04-20T02:31:57Z</dcterms:created>
  <dcterms:modified xsi:type="dcterms:W3CDTF">2026-04-20T02:31:57Z</dcterms:modified>
</cp:coreProperties>
</file>